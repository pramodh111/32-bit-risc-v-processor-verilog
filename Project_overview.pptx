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7" r:id="rId6"/>
    <p:sldId id="261" r:id="rId7"/>
    <p:sldId id="262" r:id="rId8"/>
    <p:sldId id="263" r:id="rId9"/>
    <p:sldId id="259" r:id="rId10"/>
    <p:sldId id="264" r:id="rId11"/>
    <p:sldId id="265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716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0099" y="925000"/>
            <a:ext cx="17023900" cy="1664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1978" y="2463352"/>
            <a:ext cx="16444594" cy="680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1850" y="4435475"/>
            <a:ext cx="18640425" cy="1892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4500"/>
              </a:lnSpc>
              <a:spcBef>
                <a:spcPts val="95"/>
              </a:spcBef>
            </a:pPr>
            <a:r>
              <a:rPr sz="5350" b="1" dirty="0">
                <a:latin typeface="Arial"/>
                <a:cs typeface="Arial"/>
              </a:rPr>
              <a:t>Design</a:t>
            </a:r>
            <a:r>
              <a:rPr sz="5350" b="1" spc="-180" dirty="0">
                <a:latin typeface="Arial"/>
                <a:cs typeface="Arial"/>
              </a:rPr>
              <a:t> </a:t>
            </a:r>
            <a:r>
              <a:rPr sz="5350" b="1" spc="150" dirty="0">
                <a:latin typeface="Arial"/>
                <a:cs typeface="Arial"/>
              </a:rPr>
              <a:t>and</a:t>
            </a:r>
            <a:r>
              <a:rPr sz="5350" b="1" spc="-180" dirty="0">
                <a:latin typeface="Arial"/>
                <a:cs typeface="Arial"/>
              </a:rPr>
              <a:t> </a:t>
            </a:r>
            <a:r>
              <a:rPr sz="5350" b="1" spc="114" dirty="0">
                <a:latin typeface="Arial"/>
                <a:cs typeface="Arial"/>
              </a:rPr>
              <a:t>Veriflcation</a:t>
            </a:r>
            <a:r>
              <a:rPr sz="5350" b="1" spc="-180" dirty="0">
                <a:latin typeface="Arial"/>
                <a:cs typeface="Arial"/>
              </a:rPr>
              <a:t> </a:t>
            </a:r>
            <a:r>
              <a:rPr sz="5350" b="1" spc="235" dirty="0">
                <a:latin typeface="Arial"/>
                <a:cs typeface="Arial"/>
              </a:rPr>
              <a:t>of</a:t>
            </a:r>
            <a:r>
              <a:rPr sz="5350" b="1" spc="-180" dirty="0">
                <a:latin typeface="Arial"/>
                <a:cs typeface="Arial"/>
              </a:rPr>
              <a:t> </a:t>
            </a:r>
            <a:r>
              <a:rPr sz="5350" b="1" spc="-125" dirty="0">
                <a:latin typeface="Arial"/>
                <a:cs typeface="Arial"/>
              </a:rPr>
              <a:t>32-</a:t>
            </a:r>
            <a:r>
              <a:rPr sz="5350" b="1" spc="200" dirty="0">
                <a:latin typeface="Arial"/>
                <a:cs typeface="Arial"/>
              </a:rPr>
              <a:t>Bit</a:t>
            </a:r>
            <a:r>
              <a:rPr sz="5350" b="1" spc="-175" dirty="0">
                <a:latin typeface="Arial"/>
                <a:cs typeface="Arial"/>
              </a:rPr>
              <a:t> </a:t>
            </a:r>
            <a:r>
              <a:rPr sz="5350" b="1" spc="95" dirty="0">
                <a:latin typeface="Arial"/>
                <a:cs typeface="Arial"/>
              </a:rPr>
              <a:t>RISC-</a:t>
            </a:r>
            <a:r>
              <a:rPr sz="5350" b="1" spc="355" dirty="0">
                <a:latin typeface="Arial"/>
                <a:cs typeface="Arial"/>
              </a:rPr>
              <a:t>V</a:t>
            </a:r>
            <a:r>
              <a:rPr sz="5350" b="1" spc="-180" dirty="0">
                <a:latin typeface="Arial"/>
                <a:cs typeface="Arial"/>
              </a:rPr>
              <a:t> </a:t>
            </a:r>
            <a:r>
              <a:rPr sz="5350" b="1" spc="-20" dirty="0">
                <a:latin typeface="Arial"/>
                <a:cs typeface="Arial"/>
              </a:rPr>
              <a:t>Processor</a:t>
            </a:r>
            <a:r>
              <a:rPr sz="5350" b="1" spc="-180" dirty="0">
                <a:latin typeface="Arial"/>
                <a:cs typeface="Arial"/>
              </a:rPr>
              <a:t> </a:t>
            </a:r>
            <a:r>
              <a:rPr sz="5350" b="1" spc="150" dirty="0">
                <a:latin typeface="Arial"/>
                <a:cs typeface="Arial"/>
              </a:rPr>
              <a:t>Core </a:t>
            </a:r>
            <a:r>
              <a:rPr sz="5350" b="1" dirty="0">
                <a:latin typeface="Arial"/>
                <a:cs typeface="Arial"/>
              </a:rPr>
              <a:t>Using</a:t>
            </a:r>
            <a:r>
              <a:rPr sz="5350" b="1" spc="-265" dirty="0">
                <a:latin typeface="Arial"/>
                <a:cs typeface="Arial"/>
              </a:rPr>
              <a:t> </a:t>
            </a:r>
            <a:r>
              <a:rPr sz="5350" b="1" spc="50" dirty="0">
                <a:latin typeface="Arial"/>
                <a:cs typeface="Arial"/>
              </a:rPr>
              <a:t>Verilog</a:t>
            </a:r>
            <a:r>
              <a:rPr sz="5350" b="1" spc="-265" dirty="0">
                <a:latin typeface="Arial"/>
                <a:cs typeface="Arial"/>
              </a:rPr>
              <a:t> </a:t>
            </a:r>
            <a:r>
              <a:rPr sz="5350" b="1" spc="375" dirty="0">
                <a:latin typeface="Arial"/>
                <a:cs typeface="Arial"/>
              </a:rPr>
              <a:t>HDL</a:t>
            </a:r>
            <a:endParaRPr sz="53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1650" y="549275"/>
            <a:ext cx="4863465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6000"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5250" y="1997075"/>
            <a:ext cx="17587317" cy="4890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veriflcation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541780" indent="83820" algn="just">
              <a:lnSpc>
                <a:spcPct val="171600"/>
              </a:lnSpc>
            </a:pP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design. 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endParaRPr lang="en-GB" sz="2800" spc="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541780" indent="83820" algn="just">
              <a:lnSpc>
                <a:spcPct val="171600"/>
              </a:lnSpc>
            </a:pP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arithmetic,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logical,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load/store,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r>
              <a:rPr sz="2800" spc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instructions.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Counter,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File,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ALU,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Unit,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GB"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veriflcation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  <a:r>
              <a:rPr sz="28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sz="28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  <a:r>
              <a:rPr sz="28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8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</a:t>
            </a:r>
            <a:r>
              <a:rPr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</a:t>
            </a:r>
            <a:r>
              <a:rPr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</a:t>
            </a:r>
            <a:r>
              <a:rPr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VLSI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veriflcation</a:t>
            </a:r>
            <a:r>
              <a:rPr sz="2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80050" y="930275"/>
            <a:ext cx="7629525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0" spc="-4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6000" spc="-1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751978" y="2463352"/>
            <a:ext cx="16444594" cy="56515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473075" indent="-457200">
              <a:lnSpc>
                <a:spcPct val="1127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491490" indent="-457200">
              <a:lnSpc>
                <a:spcPct val="112700"/>
              </a:lnSpc>
              <a:spcBef>
                <a:spcPts val="1975"/>
              </a:spcBef>
              <a:buFont typeface="Arial" panose="020B0604020202020204" pitchFamily="34" charset="0"/>
              <a:buChar char="•"/>
              <a:tabLst>
                <a:tab pos="20574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arithmetic,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logical,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access,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ALU,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File,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Unit,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Counter,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5080" indent="-457200">
              <a:lnSpc>
                <a:spcPct val="112700"/>
              </a:lnSpc>
              <a:spcBef>
                <a:spcPts val="1980"/>
              </a:spcBef>
              <a:buFont typeface="Arial" panose="020B0604020202020204" pitchFamily="34" charset="0"/>
              <a:buChar char="•"/>
              <a:tabLst>
                <a:tab pos="205740" algn="l"/>
              </a:tabLst>
            </a:pP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sequentially,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fetched,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decoded,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executed,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difterent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stages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541655" indent="-457200">
              <a:lnSpc>
                <a:spcPct val="112700"/>
              </a:lnSpc>
              <a:spcBef>
                <a:spcPts val="1980"/>
              </a:spcBef>
              <a:buSzPct val="150000"/>
              <a:buFont typeface="Arial" panose="020B0604020202020204" pitchFamily="34" charset="0"/>
              <a:buChar char="•"/>
              <a:tabLst>
                <a:tab pos="36004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sufters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pipelined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delay,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40099" y="925000"/>
            <a:ext cx="17023900" cy="1157209"/>
          </a:xfrm>
          <a:prstGeom prst="rect">
            <a:avLst/>
          </a:prstGeom>
        </p:spPr>
        <p:txBody>
          <a:bodyPr vert="horz" wrap="square" lIns="0" tIns="94457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6900" spc="-7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6900" spc="-12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900" spc="-10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6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1987" y="2632503"/>
            <a:ext cx="16661064" cy="37240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8755" marR="772160" indent="-191770">
              <a:lnSpc>
                <a:spcPct val="113399"/>
              </a:lnSpc>
              <a:spcBef>
                <a:spcPts val="95"/>
              </a:spcBef>
              <a:buChar char="•"/>
              <a:tabLst>
                <a:tab pos="200660" algn="l"/>
              </a:tabLst>
            </a:pPr>
            <a:r>
              <a:rPr sz="2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veriflcation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	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755" marR="5080" indent="-191770">
              <a:lnSpc>
                <a:spcPct val="113399"/>
              </a:lnSpc>
              <a:spcBef>
                <a:spcPts val="1980"/>
              </a:spcBef>
              <a:buChar char="•"/>
              <a:tabLst>
                <a:tab pos="200660" algn="l"/>
              </a:tabLst>
            </a:pP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(ISA)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sz="28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	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modular,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755" marR="332740" indent="-191770">
              <a:lnSpc>
                <a:spcPct val="113399"/>
              </a:lnSpc>
              <a:spcBef>
                <a:spcPts val="1980"/>
              </a:spcBef>
              <a:buChar char="•"/>
              <a:tabLst>
                <a:tab pos="200660" algn="l"/>
              </a:tabLst>
            </a:pPr>
            <a:r>
              <a:rPr sz="2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verifled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	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390" indent="-191770">
              <a:lnSpc>
                <a:spcPct val="100000"/>
              </a:lnSpc>
              <a:spcBef>
                <a:spcPts val="2560"/>
              </a:spcBef>
              <a:buChar char="•"/>
              <a:tabLst>
                <a:tab pos="199390" algn="l"/>
              </a:tabLst>
            </a:pPr>
            <a:r>
              <a:rPr sz="2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sz="28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RV32I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0099" y="925000"/>
            <a:ext cx="17023900" cy="923330"/>
          </a:xfrm>
        </p:spPr>
        <p:txBody>
          <a:bodyPr/>
          <a:lstStyle/>
          <a:p>
            <a:pPr algn="ctr"/>
            <a:r>
              <a:rPr lang="en-US" sz="6000" b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</a:t>
            </a:r>
            <a:r>
              <a:rPr lang="en-US" sz="6000" b="1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000" b="1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978" y="2463351"/>
            <a:ext cx="15767672" cy="5248723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RISC-V processor is a processor based on the Reduced Instruction Set Computer (RISC) architecture. It uses a simple and efficient set of instructions, making it easier to design, verify, and implement in hardware.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Features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32-bit architecture: Processes 32-bit data in one operation.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general-purpose registers (x0–x31).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ISA (Instruction Set Architecture).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instruction formats and fixed 32-bit instruction length.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 with reduced hardware complexity.</a:t>
            </a:r>
          </a:p>
        </p:txBody>
      </p:sp>
    </p:spTree>
    <p:extLst>
      <p:ext uri="{BB962C8B-B14F-4D97-AF65-F5344CB8AC3E}">
        <p14:creationId xmlns:p14="http://schemas.microsoft.com/office/powerpoint/2010/main" val="1055698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40099" y="925000"/>
            <a:ext cx="17023900" cy="10778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9375" algn="ctr">
              <a:lnSpc>
                <a:spcPct val="100000"/>
              </a:lnSpc>
              <a:spcBef>
                <a:spcPts val="125"/>
              </a:spcBef>
            </a:pPr>
            <a:r>
              <a:rPr sz="6900" spc="-7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6900" spc="-1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900" spc="-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6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8061" y="2186709"/>
            <a:ext cx="12097820" cy="8065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04050" y="701675"/>
            <a:ext cx="4226560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0" spc="-10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6000" spc="-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6000" spc="-6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6000" spc="-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6000" spc="-5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6000" spc="-1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9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7014" y="2155124"/>
            <a:ext cx="4498340" cy="264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00"/>
              </a:spcBef>
              <a:buChar char="•"/>
              <a:tabLst>
                <a:tab pos="20066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</a:t>
            </a:r>
            <a:r>
              <a:rPr sz="2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0660" indent="-187960">
              <a:lnSpc>
                <a:spcPct val="100000"/>
              </a:lnSpc>
              <a:spcBef>
                <a:spcPts val="2410"/>
              </a:spcBef>
              <a:buChar char="•"/>
              <a:tabLst>
                <a:tab pos="20066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ModelSim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0660" indent="-187960">
              <a:lnSpc>
                <a:spcPct val="100000"/>
              </a:lnSpc>
              <a:spcBef>
                <a:spcPts val="2405"/>
              </a:spcBef>
              <a:buChar char="•"/>
              <a:tabLst>
                <a:tab pos="20066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GTKWave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0660" indent="-187960">
              <a:lnSpc>
                <a:spcPct val="100000"/>
              </a:lnSpc>
              <a:spcBef>
                <a:spcPts val="2405"/>
              </a:spcBef>
              <a:buChar char="•"/>
              <a:tabLst>
                <a:tab pos="20066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sz="28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sz="28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3305" y="5045075"/>
            <a:ext cx="5988050" cy="1317027"/>
          </a:xfrm>
          <a:prstGeom prst="rect">
            <a:avLst/>
          </a:prstGeom>
        </p:spPr>
        <p:txBody>
          <a:bodyPr vert="horz" wrap="square" lIns="0" tIns="38989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3070"/>
              </a:spcBef>
            </a:pPr>
            <a:r>
              <a:rPr lang="en-US" sz="6000" spc="-8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 used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2584450" y="6950075"/>
            <a:ext cx="32308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</a:t>
            </a:r>
            <a:r>
              <a:rPr lang="en-US"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40099" y="925000"/>
            <a:ext cx="17023900" cy="1311465"/>
          </a:xfrm>
          <a:prstGeom prst="rect">
            <a:avLst/>
          </a:prstGeom>
        </p:spPr>
        <p:txBody>
          <a:bodyPr vert="horz" wrap="square" lIns="0" tIns="247222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25"/>
              </a:spcBef>
            </a:pPr>
            <a:r>
              <a:rPr sz="6900" spc="-7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sz="6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7454" y="2657737"/>
            <a:ext cx="6163945" cy="5614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41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(IoT)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405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FPGA-Based</a:t>
            </a:r>
            <a:r>
              <a:rPr sz="28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sz="28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405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405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405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410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sz="28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8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sz="28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2405"/>
              </a:spcBef>
              <a:buFont typeface="Arial" panose="020B0604020202020204" pitchFamily="34" charset="0"/>
              <a:buChar char="•"/>
              <a:tabLst>
                <a:tab pos="200660" algn="l"/>
              </a:tabLst>
            </a:pP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40099" y="925000"/>
            <a:ext cx="17023900" cy="1287954"/>
          </a:xfrm>
          <a:prstGeom prst="rect">
            <a:avLst/>
          </a:prstGeom>
        </p:spPr>
        <p:txBody>
          <a:bodyPr vert="horz" wrap="square" lIns="0" tIns="262038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25"/>
              </a:spcBef>
            </a:pPr>
            <a:r>
              <a:rPr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pc="-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pc="-1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6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pc="-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pc="-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751978" y="2463352"/>
            <a:ext cx="16444594" cy="3199267"/>
          </a:xfrm>
          <a:prstGeom prst="rect">
            <a:avLst/>
          </a:prstGeom>
        </p:spPr>
        <p:txBody>
          <a:bodyPr vert="horz" wrap="square" lIns="0" tIns="862006" rIns="0" bIns="0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hardware complexity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power consumption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execution time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8050" y="930275"/>
            <a:ext cx="17023900" cy="1567116"/>
          </a:xfrm>
          <a:prstGeom prst="rect">
            <a:avLst/>
          </a:prstGeom>
        </p:spPr>
        <p:txBody>
          <a:bodyPr vert="horz" wrap="square" lIns="0" tIns="637560" rIns="0" bIns="0" rtlCol="0">
            <a:spAutoFit/>
          </a:bodyPr>
          <a:lstStyle/>
          <a:p>
            <a:pPr marL="1063625" algn="ctr">
              <a:lnSpc>
                <a:spcPct val="100000"/>
              </a:lnSpc>
              <a:spcBef>
                <a:spcPts val="125"/>
              </a:spcBef>
            </a:pPr>
            <a:r>
              <a:rPr sz="6000" spc="-4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9478" y="3140075"/>
            <a:ext cx="15981044" cy="466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19710" indent="-457200">
              <a:lnSpc>
                <a:spcPct val="1127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594995" algn="l"/>
              </a:tabLst>
            </a:pP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verifled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HDL.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arithmetic,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access,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eThciently.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ALU,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File,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Unit,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marR="5080" indent="-457200">
              <a:lnSpc>
                <a:spcPct val="114100"/>
              </a:lnSpc>
              <a:spcBef>
                <a:spcPts val="1930"/>
              </a:spcBef>
              <a:buFont typeface="Arial" panose="020B0604020202020204" pitchFamily="34" charset="0"/>
              <a:buChar char="•"/>
              <a:tabLst>
                <a:tab pos="76644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veriflcation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core.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simplicity,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flexibility,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implementation.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pipelining,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memory,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28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eThciency.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11382" y="4265169"/>
            <a:ext cx="8117205" cy="2086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0" spc="145" dirty="0">
                <a:latin typeface="Georgia"/>
                <a:cs typeface="Georgia"/>
              </a:rPr>
              <a:t>Thank</a:t>
            </a:r>
            <a:r>
              <a:rPr sz="13500" spc="-434" dirty="0">
                <a:latin typeface="Georgia"/>
                <a:cs typeface="Georgia"/>
              </a:rPr>
              <a:t> </a:t>
            </a:r>
            <a:r>
              <a:rPr sz="13500" spc="-25" dirty="0">
                <a:latin typeface="Georgia"/>
                <a:cs typeface="Georgia"/>
              </a:rPr>
              <a:t>you</a:t>
            </a:r>
            <a:endParaRPr sz="135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506</Words>
  <Application>Microsoft Office PowerPoint</Application>
  <PresentationFormat>Custom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Georgia</vt:lpstr>
      <vt:lpstr>Tahoma</vt:lpstr>
      <vt:lpstr>Times New Roman</vt:lpstr>
      <vt:lpstr>Office Theme</vt:lpstr>
      <vt:lpstr>Design and Veriflcation of 32-Bit RISC-V Processor Core Using Verilog HDL</vt:lpstr>
      <vt:lpstr>ABSTRACT</vt:lpstr>
      <vt:lpstr>EXISTING SYSTEM</vt:lpstr>
      <vt:lpstr>Proposed system</vt:lpstr>
      <vt:lpstr>RISC-V Processor</vt:lpstr>
      <vt:lpstr>Block diagram</vt:lpstr>
      <vt:lpstr>Tools used</vt:lpstr>
      <vt:lpstr>Applications</vt:lpstr>
      <vt:lpstr>DRAWBACKS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risc-vppt</dc:title>
  <dc:creator>Konda Narendra</dc:creator>
  <cp:lastModifiedBy>user</cp:lastModifiedBy>
  <cp:revision>8</cp:revision>
  <dcterms:created xsi:type="dcterms:W3CDTF">2026-05-29T18:13:56Z</dcterms:created>
  <dcterms:modified xsi:type="dcterms:W3CDTF">2026-09-27T06:37:15Z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2026-05-29T00:00:00Z</vt:filetime>
  </property>
  <property fmtid="{D5CDD505-2E9C-101B-9397-08002B2CF9AE}" pid="4" name="Creator">
    <vt:lpwstr>Keynote</vt:lpwstr>
  </property>
  <property fmtid="{D5CDD505-2E9C-101B-9397-08002B2CF9AE}" pid="5" name="LastSaved">
    <vt:filetime>2026-05-29T00:00:00Z</vt:filetime>
  </property>
  <property fmtid="{D5CDD505-2E9C-101B-9397-08002B2CF9AE}" pid="6" name="Producer">
    <vt:lpwstr>macOS Version 26.2 (Build 25C56) Quartz PDFContext</vt:lpwstr>
  </property>
</Properties>
</file>